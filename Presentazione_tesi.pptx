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3" r:id="rId3"/>
    <p:sldId id="274" r:id="rId4"/>
    <p:sldId id="276" r:id="rId5"/>
    <p:sldId id="257" r:id="rId6"/>
    <p:sldId id="258" r:id="rId7"/>
    <p:sldId id="266" r:id="rId8"/>
    <p:sldId id="259" r:id="rId9"/>
    <p:sldId id="275" r:id="rId10"/>
    <p:sldId id="261" r:id="rId11"/>
    <p:sldId id="262" r:id="rId12"/>
    <p:sldId id="263" r:id="rId13"/>
    <p:sldId id="264" r:id="rId14"/>
    <p:sldId id="265" r:id="rId15"/>
    <p:sldId id="271" r:id="rId16"/>
    <p:sldId id="267" r:id="rId17"/>
    <p:sldId id="268" r:id="rId18"/>
    <p:sldId id="277" r:id="rId19"/>
    <p:sldId id="278" r:id="rId20"/>
  </p:sldIdLst>
  <p:sldSz cx="12192000" cy="6858000"/>
  <p:notesSz cx="6858000" cy="9144000"/>
  <p:embeddedFontLs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JetBrains Mon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DB5772A8-3F44-762C-EF1A-857BE56E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76251D3-C315-596F-5720-92F9643E2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1FDF8244-995D-E7DC-8CCD-C18F44B2F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0445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35DB90C6-D107-AAED-B0B9-BDBC93F1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D1F7F92-AF45-65D4-B005-3876F2516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A5A440D-3F34-000F-BD8D-FE8C84F27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7249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614501B-5D41-0F7E-D335-FA14EE1D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E4A584F-8A9C-4E5B-1B7F-96F43AF79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A7A79A8B-6C5C-A569-07D9-8D1B4D9C4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7147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82BD42B-7A2C-95C4-085C-3F73259D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38B48EB-639B-9F3C-2150-EEE5931E0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1F629806-3644-7DC6-07A4-7788B14D5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2841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6192EACA-9718-B80F-5691-1C1E2631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CD0B688-42C9-8CAD-EE88-A1E46A8C5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6FE2AF01-6081-D452-5932-2B4852C98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78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F33C3CD-B90F-2B2A-07D0-87383B0D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2115DB1-42E5-8DC3-8655-6E683CB8D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E5885A37-2A65-EEE3-DA46-691604199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50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22BD5195-149F-6135-7BCD-E3D1CEE4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070CFE5-0B8A-319D-2264-83C0456A8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436324B4-B7C4-178F-2284-D65205A0E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5848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FBF9736A-3F3C-11B7-E7EB-566CB0C8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CCA5716-0F6A-C2C5-5960-52D03EFB1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036F8297-3418-0BC9-656A-EB975C54D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8712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FB5E331-2731-B30C-56BA-1C740788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4EC6155-513D-83CE-3861-AD35F77A7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DB2568A-AE00-CE99-9110-D99C8172B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9052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4BC0E975-FE0F-F637-C3D0-8F8D03BC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087FB02-FEC3-651B-684D-453CAD2E0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01DCD76-4EDD-9EED-FBBD-60A4C180C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1370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7AC8D8B-366E-D4F9-974F-673CB496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97032A6-E33E-EEB8-1987-EDD819694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437AB461-04ED-439D-1D0E-9FA2FDC46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4817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9A130BDF-A005-A08E-6F4A-3A6D60F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F9876F0-8CAE-7B45-44F0-96718BC1E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4CF4DE9-F4CA-A206-E7DB-37C259E3C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770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53112A4-E959-8215-1E33-BFA56363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DC82EBD-4DF2-03A7-B842-74D44417A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EAB74026-F50A-8C7A-49C2-963BD8E15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7932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660813BA-19C0-2187-7662-BEA01CE3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DFC9819-832C-2372-3D81-F5BEE2F5A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88D29668-D43A-87F0-DEAD-C2AB8C245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8588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97FF08F-53C5-1E3E-90C0-A176F61B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F37ACC5-26EE-3037-230C-0A08F253E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00C5D55-E880-E06B-5119-BAEBDE140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200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03047FA-FBBC-E5CC-2933-92BC03CF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3827B82-7B73-BD47-BBEC-D07A6789B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A11301FF-2F30-7982-9C7C-AAD3DF4AE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2940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B7C22E16-E28F-5472-CC99-8C9A5308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8846446-3CF8-DFEF-0B8D-88F2AC1D5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0B351ACF-9FE5-8964-E843-7091EBB31C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4197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 b="98957"/>
          <a:stretch>
            <a:fillRect/>
          </a:stretch>
        </p:blipFill>
        <p:spPr>
          <a:xfrm>
            <a:off x="0" y="0"/>
            <a:ext cx="12192000" cy="7156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12106" y="582826"/>
            <a:ext cx="796778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b="0" i="0" u="none" strike="noStrike" cap="none" noProof="0" dirty="0">
                <a:solidFill>
                  <a:srgbClr val="06B6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UNIVERSIT</a:t>
            </a:r>
            <a:r>
              <a:rPr lang="en-US" sz="1350" noProof="0" dirty="0">
                <a:solidFill>
                  <a:srgbClr val="06B6D4"/>
                </a:solidFill>
                <a:latin typeface="JetBrains Mono"/>
                <a:cs typeface="JetBrains Mono"/>
              </a:rPr>
              <a:t>À DEGLI STUDI DI PALERMO </a:t>
            </a:r>
            <a:r>
              <a:rPr lang="en-US" sz="1350" b="0" i="0" u="none" strike="noStrike" cap="none" noProof="0" dirty="0">
                <a:solidFill>
                  <a:srgbClr val="06B6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– DIPARTIMENTO</a:t>
            </a:r>
            <a:r>
              <a:rPr lang="en-US" sz="1350" noProof="0" dirty="0">
                <a:solidFill>
                  <a:srgbClr val="06B6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DI INGEGNERIA</a:t>
            </a:r>
            <a:endParaRPr lang="en-US" noProof="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1123950"/>
            <a:ext cx="11201400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noProof="0" dirty="0">
                <a:solidFill>
                  <a:srgbClr val="FFFFFF"/>
                </a:solidFill>
                <a:latin typeface="Inter"/>
                <a:ea typeface="Inter"/>
                <a:sym typeface="Inter"/>
              </a:rPr>
              <a:t>VISION TRANSFORMER PRUNING USING HESSIAN-GUIDED NEURAL ARCHITECTURE SEARCH </a:t>
            </a:r>
            <a:endParaRPr lang="en-US" sz="3400" noProof="0" dirty="0"/>
          </a:p>
        </p:txBody>
      </p:sp>
      <p:sp>
        <p:nvSpPr>
          <p:cNvPr id="87" name="Google Shape;87;p13"/>
          <p:cNvSpPr/>
          <p:nvPr/>
        </p:nvSpPr>
        <p:spPr>
          <a:xfrm>
            <a:off x="5810250" y="2737246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810125" y="6113591"/>
            <a:ext cx="25717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noProof="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ANNO ACCADEMICO 2025 / 2026</a:t>
            </a:r>
            <a:endParaRPr lang="en-US" noProof="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828800" y="4084559"/>
            <a:ext cx="1809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CANDIDATO</a:t>
            </a:r>
            <a:endParaRPr lang="en-US" noProof="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828800" y="4351259"/>
            <a:ext cx="2425148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noProof="0" dirty="0">
                <a:solidFill>
                  <a:srgbClr val="E2E8F0"/>
                </a:solidFill>
                <a:latin typeface="Inter"/>
                <a:ea typeface="Inter"/>
                <a:sym typeface="Inter"/>
              </a:rPr>
              <a:t>GIACOMO LOMBARDO</a:t>
            </a:r>
            <a:endParaRPr lang="en-US" noProof="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858125" y="4084559"/>
            <a:ext cx="2505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RELATORE</a:t>
            </a:r>
            <a:endParaRPr lang="en-US" noProof="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7060759" y="4351259"/>
            <a:ext cx="330244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PROF.SSA  LILIANA LO PRESTI</a:t>
            </a:r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57392CC-95C1-F2DC-0DD9-E6126774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79680F77-A645-5D14-C07C-1606A02020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3FD97A41-4389-771D-CD11-8C237313F6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11A46AB9-CB33-66AD-3B94-519C6F865336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Compression of </a:t>
            </a:r>
            <a:r>
              <a:rPr lang="en-US" sz="3000" b="1" noProof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Transformer</a:t>
            </a: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-based models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CD268C3B-D870-48FF-1963-A3CAC60F44C0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F09D6C5-5197-3B3F-106F-21CC13444C9A}"/>
              </a:ext>
            </a:extLst>
          </p:cNvPr>
          <p:cNvSpPr txBox="1"/>
          <p:nvPr/>
        </p:nvSpPr>
        <p:spPr>
          <a:xfrm>
            <a:off x="332879" y="1391808"/>
            <a:ext cx="11260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noProof="0" dirty="0">
                <a:solidFill>
                  <a:schemeClr val="bg1"/>
                </a:solidFill>
              </a:rPr>
              <a:t>S</a:t>
            </a:r>
            <a:r>
              <a:rPr lang="en-US" sz="1600" dirty="0" err="1">
                <a:solidFill>
                  <a:schemeClr val="bg1"/>
                </a:solidFill>
              </a:rPr>
              <a:t>ince</a:t>
            </a:r>
            <a:r>
              <a:rPr lang="en-US" sz="1600" dirty="0">
                <a:solidFill>
                  <a:schemeClr val="bg1"/>
                </a:solidFill>
              </a:rPr>
              <a:t> the discovery of the Transformer architecture, a lot of models have been trained and deployed for different purposes. The easiest way to improve performance is to increase their </a:t>
            </a:r>
            <a:r>
              <a:rPr lang="en-US" sz="1600" dirty="0">
                <a:solidFill>
                  <a:srgbClr val="1DA0E2"/>
                </a:solidFill>
              </a:rPr>
              <a:t>scale</a:t>
            </a:r>
            <a:r>
              <a:rPr lang="en-US" sz="1600" dirty="0">
                <a:solidFill>
                  <a:schemeClr val="bg1"/>
                </a:solidFill>
              </a:rPr>
              <a:t>, but this approach comes with problems, such as the need for expensive hardware and infrastructure to train and use them.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57080DD-969C-8C2B-65F2-7CB875979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824" y="2512780"/>
            <a:ext cx="6557176" cy="2764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5418DC-F5B5-32CC-2A0D-F2950B6094AE}"/>
              </a:ext>
            </a:extLst>
          </p:cNvPr>
          <p:cNvSpPr txBox="1"/>
          <p:nvPr/>
        </p:nvSpPr>
        <p:spPr>
          <a:xfrm>
            <a:off x="332879" y="2354646"/>
            <a:ext cx="44365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Furthermore, these models cannot be easily deployed on </a:t>
            </a:r>
            <a:r>
              <a:rPr lang="en-US" sz="1600" dirty="0">
                <a:solidFill>
                  <a:srgbClr val="1DA0E2"/>
                </a:solidFill>
              </a:rPr>
              <a:t>edge devices</a:t>
            </a:r>
            <a:r>
              <a:rPr lang="en-US" sz="1600" dirty="0">
                <a:solidFill>
                  <a:schemeClr val="bg1"/>
                </a:solidFill>
              </a:rPr>
              <a:t> like smartphones, because of their limited computational capabilities. This causes companies to deploy on the cloud, raising a lot of privacy concerns for users.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lvl="2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Research has focused on improving both the hardware and the models, specifically researchers have developed many compression techniques, making models easier to run on consumer-level hardware.</a:t>
            </a:r>
          </a:p>
        </p:txBody>
      </p:sp>
    </p:spTree>
    <p:extLst>
      <p:ext uri="{BB962C8B-B14F-4D97-AF65-F5344CB8AC3E}">
        <p14:creationId xmlns:p14="http://schemas.microsoft.com/office/powerpoint/2010/main" val="162874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F79E646F-93EE-0B6B-974F-02921D2D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2C74A9EE-CA6C-7E1B-486A-25C86F654C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C260220B-C0B9-79DF-D42B-CE3D017DE9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FAC1E46E-D0B4-33E5-F09A-8794DAA5103C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State of the Art Compression Strategies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5F1F6F09-08E6-A8D7-C084-6ED7FBB0484E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53A0C8-A701-05E2-48AF-3490A70FC79E}"/>
              </a:ext>
            </a:extLst>
          </p:cNvPr>
          <p:cNvSpPr txBox="1"/>
          <p:nvPr/>
        </p:nvSpPr>
        <p:spPr>
          <a:xfrm>
            <a:off x="762000" y="1311950"/>
            <a:ext cx="71893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The main compression techniques are: </a:t>
            </a:r>
          </a:p>
          <a:p>
            <a:pPr lvl="2">
              <a:buClr>
                <a:schemeClr val="bg1"/>
              </a:buClr>
            </a:pPr>
            <a:endParaRPr lang="en-US" sz="1600" dirty="0">
              <a:solidFill>
                <a:schemeClr val="bg1"/>
              </a:solidFill>
            </a:endParaRPr>
          </a:p>
          <a:p>
            <a:pPr marL="285750" lvl="5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DA0E2"/>
                </a:solidFill>
              </a:rPr>
              <a:t>Quantization: </a:t>
            </a:r>
            <a:r>
              <a:rPr lang="en-US" sz="1600" dirty="0">
                <a:solidFill>
                  <a:schemeClr val="bg1"/>
                </a:solidFill>
              </a:rPr>
              <a:t>makes the model smaller in size by encoding parameters with lower precision representations (fp16, int8, int4 instead of fp32). This also allows to decrease inference time by using specialized hardware. </a:t>
            </a:r>
            <a:endParaRPr lang="en-US" sz="1600" dirty="0">
              <a:solidFill>
                <a:srgbClr val="1DA0E2"/>
              </a:solidFill>
            </a:endParaRPr>
          </a:p>
          <a:p>
            <a:pPr marL="285750" lvl="5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1"/>
              </a:solidFill>
            </a:endParaRPr>
          </a:p>
          <a:p>
            <a:pPr marL="285750" lvl="5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DA0E2"/>
                </a:solidFill>
              </a:rPr>
              <a:t>Knowledge Distillation: </a:t>
            </a:r>
            <a:r>
              <a:rPr lang="en-US" sz="1600" dirty="0">
                <a:solidFill>
                  <a:schemeClr val="bg1"/>
                </a:solidFill>
              </a:rPr>
              <a:t>this technique is used to train a smaller model (student) with the supervision of a bigger model (teacher). This process allows the student to reach better performances while keeping a smaller size.</a:t>
            </a:r>
            <a:endParaRPr lang="en-US" sz="1600" dirty="0">
              <a:solidFill>
                <a:srgbClr val="1DA0E2"/>
              </a:solidFill>
            </a:endParaRPr>
          </a:p>
          <a:p>
            <a:pPr marL="285750" lvl="5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1"/>
              </a:solidFill>
            </a:endParaRPr>
          </a:p>
          <a:p>
            <a:pPr marL="285750" lvl="5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DA0E2"/>
                </a:solidFill>
              </a:rPr>
              <a:t>Pruning: </a:t>
            </a:r>
            <a:r>
              <a:rPr lang="en-US" sz="1600" dirty="0">
                <a:solidFill>
                  <a:schemeClr val="bg1"/>
                </a:solidFill>
              </a:rPr>
              <a:t>a technique used to reduce the size of a model by removing redundant or less important parameters that contribute little to the model’s performance.</a:t>
            </a:r>
          </a:p>
          <a:p>
            <a:pPr marL="285750" lvl="5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1"/>
              </a:solidFill>
            </a:endParaRPr>
          </a:p>
          <a:p>
            <a:pPr marL="285750" lvl="5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1DA0E2"/>
                </a:solidFill>
              </a:rPr>
              <a:t>Neural Architecture Search: </a:t>
            </a:r>
            <a:r>
              <a:rPr lang="en-US" sz="1600" dirty="0">
                <a:solidFill>
                  <a:schemeClr val="bg1"/>
                </a:solidFill>
              </a:rPr>
              <a:t>an automated process for designing artificial neural networks. Instead of relying on manual human design, NAS uses algorithms to discover the most efficient architecture for a specific task.</a:t>
            </a:r>
          </a:p>
        </p:txBody>
      </p:sp>
      <p:pic>
        <p:nvPicPr>
          <p:cNvPr id="1028" name="Picture 4" descr="A Visual Guide to Quantization - by Maarten Grootendorst">
            <a:extLst>
              <a:ext uri="{FF2B5EF4-FFF2-40B4-BE49-F238E27FC236}">
                <a16:creationId xmlns:a16="http://schemas.microsoft.com/office/drawing/2014/main" id="{DD80F4BE-309F-0B97-0B37-388D1BC4F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976" y="1530337"/>
            <a:ext cx="2656565" cy="1898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uning: Types and Algorithms | BotPenguin">
            <a:extLst>
              <a:ext uri="{FF2B5EF4-FFF2-40B4-BE49-F238E27FC236}">
                <a16:creationId xmlns:a16="http://schemas.microsoft.com/office/drawing/2014/main" id="{3C1EB27D-623C-4484-138A-416229EDDB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8" b="20368"/>
          <a:stretch>
            <a:fillRect/>
          </a:stretch>
        </p:blipFill>
        <p:spPr bwMode="auto">
          <a:xfrm>
            <a:off x="8194976" y="3721087"/>
            <a:ext cx="2656565" cy="203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2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023F2452-5AC9-35D5-61FF-4C3CB31D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0008CFF9-3F44-C74F-35C6-D8A329D685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48247DDB-48D6-047B-6FDA-09B09D3326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11954D13-EB45-B047-7325-C54FFE502F77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Main Goal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A79E2201-3559-F583-747E-2D51F38770A0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2D07F17-949E-CF4F-FC37-773FF8BDCC27}"/>
              </a:ext>
            </a:extLst>
          </p:cNvPr>
          <p:cNvSpPr txBox="1"/>
          <p:nvPr/>
        </p:nvSpPr>
        <p:spPr>
          <a:xfrm>
            <a:off x="812800" y="2571977"/>
            <a:ext cx="1056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Clr>
                <a:schemeClr val="bg1"/>
              </a:buClr>
            </a:pPr>
            <a:r>
              <a:rPr lang="en-US" sz="2400" b="1" dirty="0">
                <a:solidFill>
                  <a:srgbClr val="1DA0E2"/>
                </a:solidFill>
              </a:rPr>
              <a:t>Given a Vision Transformer model, fine tune it on the desired domain, then compress it iteratively to a certain degree while maintaining high accuracy.</a:t>
            </a:r>
          </a:p>
        </p:txBody>
      </p:sp>
    </p:spTree>
    <p:extLst>
      <p:ext uri="{BB962C8B-B14F-4D97-AF65-F5344CB8AC3E}">
        <p14:creationId xmlns:p14="http://schemas.microsoft.com/office/powerpoint/2010/main" val="96943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Vision Transformer (</a:t>
            </a:r>
            <a:r>
              <a:rPr lang="en-US" sz="3000" b="1" noProof="0" dirty="0" err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ViT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)</a:t>
            </a:r>
            <a:endParaRPr lang="en-US" noProof="0" dirty="0"/>
          </a:p>
        </p:txBody>
      </p:sp>
      <p:sp>
        <p:nvSpPr>
          <p:cNvPr id="102" name="Google Shape;102;p14"/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4435399-9A6B-AAA6-CCFB-BB59AF7C974E}"/>
              </a:ext>
            </a:extLst>
          </p:cNvPr>
          <p:cNvSpPr txBox="1"/>
          <p:nvPr/>
        </p:nvSpPr>
        <p:spPr>
          <a:xfrm>
            <a:off x="579368" y="1332035"/>
            <a:ext cx="11260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1DA0E2"/>
                </a:solidFill>
              </a:rPr>
              <a:t>Encoder-Only</a:t>
            </a:r>
            <a:r>
              <a:rPr lang="en-US" sz="1600" noProof="0" dirty="0">
                <a:solidFill>
                  <a:schemeClr val="bg1"/>
                </a:solidFill>
              </a:rPr>
              <a:t> Transformer Architecture for handling Images, largely used as a backbone</a:t>
            </a:r>
            <a:r>
              <a:rPr lang="en-US" sz="1600" dirty="0">
                <a:solidFill>
                  <a:schemeClr val="bg1"/>
                </a:solidFill>
              </a:rPr>
              <a:t> for various architectures and tasks.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BBF4825-9952-B6DA-7106-F6436D7AE1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689" t="6978" r="34047" b="7224"/>
          <a:stretch>
            <a:fillRect/>
          </a:stretch>
        </p:blipFill>
        <p:spPr>
          <a:xfrm>
            <a:off x="7826143" y="1866070"/>
            <a:ext cx="3349416" cy="3824578"/>
          </a:xfrm>
          <a:prstGeom prst="rect">
            <a:avLst/>
          </a:prstGeom>
          <a:ln w="28575">
            <a:solidFill>
              <a:srgbClr val="1DA0E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92F8A47-C9B6-14F7-0F07-B9A25A9D7E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804" t="8190" r="7424" b="10977"/>
          <a:stretch>
            <a:fillRect/>
          </a:stretch>
        </p:blipFill>
        <p:spPr>
          <a:xfrm>
            <a:off x="1016441" y="2016823"/>
            <a:ext cx="6127677" cy="3449447"/>
          </a:xfrm>
          <a:prstGeom prst="rect">
            <a:avLst/>
          </a:prstGeom>
          <a:ln w="28575">
            <a:solidFill>
              <a:srgbClr val="1DA0E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Freccia a sinistra 18">
            <a:extLst>
              <a:ext uri="{FF2B5EF4-FFF2-40B4-BE49-F238E27FC236}">
                <a16:creationId xmlns:a16="http://schemas.microsoft.com/office/drawing/2014/main" id="{1382E637-0050-DE02-314B-2ECA1C621833}"/>
              </a:ext>
            </a:extLst>
          </p:cNvPr>
          <p:cNvSpPr/>
          <p:nvPr/>
        </p:nvSpPr>
        <p:spPr>
          <a:xfrm>
            <a:off x="7240638" y="4279900"/>
            <a:ext cx="1349029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43CB241A-4ADE-D8FC-71E9-8A96CA76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470CF0FF-F9D5-17CD-AA21-4DF36C082A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C952671D-2623-4AC2-BFB3-653D326980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ED211283-A85F-6F2E-257A-9050E6DCA4FB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Vision Transformer (</a:t>
            </a:r>
            <a:r>
              <a:rPr lang="en-US" sz="3000" b="1" noProof="0" dirty="0" err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ViT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)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3E8CD398-3B6B-6941-4139-B35E6255FD80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1521605-E718-04F5-3C24-844794A11F5C}"/>
              </a:ext>
            </a:extLst>
          </p:cNvPr>
          <p:cNvSpPr txBox="1"/>
          <p:nvPr/>
        </p:nvSpPr>
        <p:spPr>
          <a:xfrm>
            <a:off x="543835" y="1334226"/>
            <a:ext cx="10977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1DA0E2"/>
                </a:solidFill>
              </a:rPr>
              <a:t>Encoder-Only</a:t>
            </a:r>
            <a:r>
              <a:rPr lang="en-US" sz="1600" noProof="0" dirty="0">
                <a:solidFill>
                  <a:schemeClr val="bg1"/>
                </a:solidFill>
              </a:rPr>
              <a:t> Transformer Architecture for handling Images, largely used as a </a:t>
            </a:r>
            <a:r>
              <a:rPr lang="en-US" sz="1600" noProof="0" dirty="0" err="1">
                <a:solidFill>
                  <a:schemeClr val="bg1"/>
                </a:solidFill>
              </a:rPr>
              <a:t>backbon</a:t>
            </a:r>
            <a:r>
              <a:rPr lang="en-US" sz="1600" dirty="0">
                <a:solidFill>
                  <a:schemeClr val="bg1"/>
                </a:solidFill>
              </a:rPr>
              <a:t>e for various architectures and tasks.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B426AFD-2886-CC6F-3E76-EA36A3001F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689" t="6978" r="34047" b="7224"/>
          <a:stretch>
            <a:fillRect/>
          </a:stretch>
        </p:blipFill>
        <p:spPr>
          <a:xfrm>
            <a:off x="7826143" y="1866070"/>
            <a:ext cx="3349416" cy="3824578"/>
          </a:xfrm>
          <a:prstGeom prst="rect">
            <a:avLst/>
          </a:prstGeom>
          <a:ln w="28575">
            <a:solidFill>
              <a:srgbClr val="1DA0E2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Freccia a sinistra 18">
            <a:extLst>
              <a:ext uri="{FF2B5EF4-FFF2-40B4-BE49-F238E27FC236}">
                <a16:creationId xmlns:a16="http://schemas.microsoft.com/office/drawing/2014/main" id="{BB851B8D-61A5-58A7-D2DE-6573BAB07F91}"/>
              </a:ext>
            </a:extLst>
          </p:cNvPr>
          <p:cNvSpPr/>
          <p:nvPr/>
        </p:nvSpPr>
        <p:spPr>
          <a:xfrm>
            <a:off x="7288995" y="2350657"/>
            <a:ext cx="1349029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F0E47CA-56D8-643E-08D8-C23B003D59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172" t="26389" r="14762" b="15594"/>
          <a:stretch>
            <a:fillRect/>
          </a:stretch>
        </p:blipFill>
        <p:spPr>
          <a:xfrm>
            <a:off x="721710" y="2220061"/>
            <a:ext cx="6470304" cy="2812957"/>
          </a:xfrm>
          <a:prstGeom prst="rect">
            <a:avLst/>
          </a:prstGeom>
          <a:ln w="28575">
            <a:solidFill>
              <a:srgbClr val="1DA0E2"/>
            </a:solidFill>
          </a:ln>
        </p:spPr>
      </p:pic>
    </p:spTree>
    <p:extLst>
      <p:ext uri="{BB962C8B-B14F-4D97-AF65-F5344CB8AC3E}">
        <p14:creationId xmlns:p14="http://schemas.microsoft.com/office/powerpoint/2010/main" val="426901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6A9D6D58-7DA6-6F75-4FFD-5EEE658C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D8801D79-C634-2CA6-C268-C2630A7DD3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6D7F1421-DC44-3F6F-199C-8372EE6945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F797E90A-F24B-983E-C2E0-C164B14F5B0D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 err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ViT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Compression Framework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E864A43F-417F-C610-3507-9191AB7072D1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72E43E5-D485-472A-DE01-531646B058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835" y="1386036"/>
            <a:ext cx="6571499" cy="2873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061FCE-C652-B414-C310-8650D3B101C3}"/>
              </a:ext>
            </a:extLst>
          </p:cNvPr>
          <p:cNvSpPr txBox="1"/>
          <p:nvPr/>
        </p:nvSpPr>
        <p:spPr>
          <a:xfrm>
            <a:off x="7339054" y="1290697"/>
            <a:ext cx="42380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compression process is iterative, and every iteration includes two phases: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1DA0E2"/>
                </a:solidFill>
              </a:rPr>
              <a:t>Pruning</a:t>
            </a:r>
            <a:r>
              <a:rPr lang="en-US" sz="1600" dirty="0">
                <a:solidFill>
                  <a:schemeClr val="bg1"/>
                </a:solidFill>
              </a:rPr>
              <a:t> (Architecture Training)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1DA0E2"/>
                </a:solidFill>
              </a:rPr>
              <a:t>Recovery Fine-Tuning</a:t>
            </a:r>
            <a:r>
              <a:rPr lang="en-US" sz="1600" dirty="0">
                <a:solidFill>
                  <a:schemeClr val="bg1"/>
                </a:solidFill>
              </a:rPr>
              <a:t> (Parameter Training)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In the first phase the search set, used to evaluate every node and to compute parameter importances, is sampled (once every iteration to prevent </a:t>
            </a:r>
            <a:r>
              <a:rPr lang="en-US" sz="1600" dirty="0">
                <a:solidFill>
                  <a:srgbClr val="1DA0E2"/>
                </a:solidFill>
              </a:rPr>
              <a:t>architecture overfitting</a:t>
            </a:r>
            <a:r>
              <a:rPr lang="en-US" sz="1600" dirty="0">
                <a:solidFill>
                  <a:schemeClr val="bg1"/>
                </a:solidFill>
              </a:rPr>
              <a:t>). Then we use it for the search process.</a:t>
            </a:r>
          </a:p>
          <a:p>
            <a:pPr>
              <a:buClr>
                <a:schemeClr val="bg1"/>
              </a:buClr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The second phase recovers the performance loss caused by the first phase, and it uses KD with the original model.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F4E44C-3F0E-B038-D6CC-DCEE8242DE45}"/>
              </a:ext>
            </a:extLst>
          </p:cNvPr>
          <p:cNvSpPr txBox="1"/>
          <p:nvPr/>
        </p:nvSpPr>
        <p:spPr>
          <a:xfrm>
            <a:off x="762000" y="4482855"/>
            <a:ext cx="63291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The actual </a:t>
            </a:r>
            <a:r>
              <a:rPr lang="en-US" sz="1600" dirty="0">
                <a:solidFill>
                  <a:srgbClr val="1DA0E2"/>
                </a:solidFill>
              </a:rPr>
              <a:t>compression</a:t>
            </a:r>
            <a:r>
              <a:rPr lang="en-US" sz="1600" dirty="0">
                <a:solidFill>
                  <a:schemeClr val="bg1"/>
                </a:solidFill>
              </a:rPr>
              <a:t> happens during the reconstruction of the entire model, by copying the non-zeroed weights to new and smaller tensors.</a:t>
            </a:r>
          </a:p>
          <a:p>
            <a:r>
              <a:rPr lang="en-US" sz="1600" dirty="0">
                <a:solidFill>
                  <a:schemeClr val="bg1"/>
                </a:solidFill>
              </a:rPr>
              <a:t> 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18" name="Connettore a gomito 17">
            <a:extLst>
              <a:ext uri="{FF2B5EF4-FFF2-40B4-BE49-F238E27FC236}">
                <a16:creationId xmlns:a16="http://schemas.microsoft.com/office/drawing/2014/main" id="{AAC605BA-F860-34D6-AF0F-CA7FBD455451}"/>
              </a:ext>
            </a:extLst>
          </p:cNvPr>
          <p:cNvCxnSpPr>
            <a:cxnSpLocks/>
            <a:endCxn id="8" idx="1"/>
          </p:cNvCxnSpPr>
          <p:nvPr/>
        </p:nvCxnSpPr>
        <p:spPr>
          <a:xfrm rot="5400000">
            <a:off x="80731" y="3837938"/>
            <a:ext cx="1864796" cy="502257"/>
          </a:xfrm>
          <a:prstGeom prst="bentConnector4">
            <a:avLst>
              <a:gd name="adj1" fmla="val 168"/>
              <a:gd name="adj2" fmla="val 20409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16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9372B73-A3DB-63EB-5BBA-762C6A6F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B97D7615-0197-E113-E140-C8EA4DD089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577300A4-3447-D4D5-E183-8B7F7AE5DF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D82A9C37-E516-4A2C-A54A-033CC9E418DC}"/>
              </a:ext>
            </a:extLst>
          </p:cNvPr>
          <p:cNvSpPr txBox="1"/>
          <p:nvPr/>
        </p:nvSpPr>
        <p:spPr>
          <a:xfrm>
            <a:off x="762000" y="562213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Neural Architecture Search with Branch and Bound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0ED2CB5D-5EDA-4398-5B09-90D23A57A570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A71F6EF-5216-C163-E9D8-3C0E260DF8AF}"/>
              </a:ext>
            </a:extLst>
          </p:cNvPr>
          <p:cNvSpPr txBox="1"/>
          <p:nvPr/>
        </p:nvSpPr>
        <p:spPr>
          <a:xfrm>
            <a:off x="607446" y="1354723"/>
            <a:ext cx="10977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NAS process explores different subnets, maximizing the </a:t>
            </a:r>
            <a:r>
              <a:rPr lang="en-US" sz="1600" dirty="0">
                <a:solidFill>
                  <a:srgbClr val="1DA0E2"/>
                </a:solidFill>
              </a:rPr>
              <a:t>objective function</a:t>
            </a:r>
            <a:r>
              <a:rPr lang="en-US" sz="1600" dirty="0">
                <a:solidFill>
                  <a:schemeClr val="bg1"/>
                </a:solidFill>
              </a:rPr>
              <a:t>, which considers accuracy A and the number of parameters P. Every node in the search tree is a subnet, which is evaluated on the Search Set during exploration, to compute accuracy and, at the same time, the </a:t>
            </a:r>
            <a:r>
              <a:rPr lang="en-US" sz="1600" dirty="0">
                <a:solidFill>
                  <a:srgbClr val="1DA0E2"/>
                </a:solidFill>
              </a:rPr>
              <a:t>importance</a:t>
            </a:r>
            <a:r>
              <a:rPr lang="en-US" sz="1600" dirty="0">
                <a:solidFill>
                  <a:schemeClr val="bg1"/>
                </a:solidFill>
              </a:rPr>
              <a:t> of each parameter.    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263431F-4810-4351-A2DC-04929E3552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02548" y="2336251"/>
            <a:ext cx="5186902" cy="6522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72C391C-03F4-D7B4-6D83-5C7F5DA45979}"/>
              </a:ext>
            </a:extLst>
          </p:cNvPr>
          <p:cNvSpPr txBox="1"/>
          <p:nvPr/>
        </p:nvSpPr>
        <p:spPr>
          <a:xfrm>
            <a:off x="607446" y="3275364"/>
            <a:ext cx="10977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Every action uses the estimation of parameter importance to choose which dimension to prune. We use a metric that considers both magnitude and gradient of the weights: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593FB36-7420-3A46-4FBA-B420A4877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6025" y="3992361"/>
            <a:ext cx="3959950" cy="957422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B30453D-7320-706E-A3EF-951F56978AFB}"/>
              </a:ext>
            </a:extLst>
          </p:cNvPr>
          <p:cNvSpPr txBox="1"/>
          <p:nvPr/>
        </p:nvSpPr>
        <p:spPr>
          <a:xfrm>
            <a:off x="607446" y="5151796"/>
            <a:ext cx="10977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</a:rPr>
              <a:t>Notice that the second part is the diagonal approximation of the </a:t>
            </a:r>
            <a:r>
              <a:rPr lang="en-US" sz="1600" noProof="0" dirty="0">
                <a:solidFill>
                  <a:srgbClr val="1DA0E2"/>
                </a:solidFill>
              </a:rPr>
              <a:t>Fisher Information Matrix</a:t>
            </a:r>
            <a:r>
              <a:rPr lang="en-US" sz="1600" noProof="0" dirty="0">
                <a:solidFill>
                  <a:schemeClr val="bg1"/>
                </a:solidFill>
              </a:rPr>
              <a:t>, and it approximates the </a:t>
            </a:r>
            <a:r>
              <a:rPr lang="en-US" sz="1600" noProof="0" dirty="0">
                <a:solidFill>
                  <a:srgbClr val="1DA0E2"/>
                </a:solidFill>
              </a:rPr>
              <a:t>Hessian</a:t>
            </a:r>
            <a:r>
              <a:rPr lang="en-US" sz="1600" noProof="0" dirty="0">
                <a:solidFill>
                  <a:schemeClr val="bg1"/>
                </a:solidFill>
              </a:rPr>
              <a:t> of the loss function when the model is converging.</a:t>
            </a:r>
          </a:p>
        </p:txBody>
      </p:sp>
    </p:spTree>
    <p:extLst>
      <p:ext uri="{BB962C8B-B14F-4D97-AF65-F5344CB8AC3E}">
        <p14:creationId xmlns:p14="http://schemas.microsoft.com/office/powerpoint/2010/main" val="195805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0BD90939-AA48-9CE3-2CFB-A861314F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A410B9DD-111E-269B-ABAD-B9AF62009B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598A54CF-7712-865C-3ACC-D1438C23E4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751B7857-C3A8-8781-CCE9-DFDB6F95F1C4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976C54D-D83B-EA22-E9F5-925D90441DB1}"/>
              </a:ext>
            </a:extLst>
          </p:cNvPr>
          <p:cNvSpPr txBox="1"/>
          <p:nvPr/>
        </p:nvSpPr>
        <p:spPr>
          <a:xfrm>
            <a:off x="607446" y="1354723"/>
            <a:ext cx="10977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NAS process explores different subnets through a </a:t>
            </a:r>
            <a:r>
              <a:rPr lang="en-US" sz="1600" dirty="0">
                <a:solidFill>
                  <a:srgbClr val="1DA0E2"/>
                </a:solidFill>
              </a:rPr>
              <a:t>5-ary tree</a:t>
            </a:r>
            <a:r>
              <a:rPr lang="en-US" sz="1600" dirty="0">
                <a:solidFill>
                  <a:schemeClr val="bg1"/>
                </a:solidFill>
              </a:rPr>
              <a:t>. For every node (subnet) another 5 nodes are created during the </a:t>
            </a:r>
            <a:r>
              <a:rPr lang="en-US" sz="1600" dirty="0">
                <a:solidFill>
                  <a:srgbClr val="1DA0E2"/>
                </a:solidFill>
              </a:rPr>
              <a:t>Branch</a:t>
            </a:r>
            <a:r>
              <a:rPr lang="en-US" sz="1600" dirty="0">
                <a:solidFill>
                  <a:schemeClr val="bg1"/>
                </a:solidFill>
              </a:rPr>
              <a:t> phase. They are explored and evaluated using the objective function.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E2223300-0B31-325E-3A89-CE6E15377194}"/>
              </a:ext>
            </a:extLst>
          </p:cNvPr>
          <p:cNvGrpSpPr/>
          <p:nvPr/>
        </p:nvGrpSpPr>
        <p:grpSpPr>
          <a:xfrm>
            <a:off x="762000" y="2109643"/>
            <a:ext cx="4742256" cy="3635237"/>
            <a:chOff x="866692" y="1908313"/>
            <a:chExt cx="3816626" cy="2861807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D1310D94-71E0-AFF7-16C3-96C1788A2F65}"/>
                </a:ext>
              </a:extLst>
            </p:cNvPr>
            <p:cNvSpPr/>
            <p:nvPr/>
          </p:nvSpPr>
          <p:spPr>
            <a:xfrm>
              <a:off x="866692" y="1908313"/>
              <a:ext cx="3816626" cy="286180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DA0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Connettore 5">
              <a:extLst>
                <a:ext uri="{FF2B5EF4-FFF2-40B4-BE49-F238E27FC236}">
                  <a16:creationId xmlns:a16="http://schemas.microsoft.com/office/drawing/2014/main" id="{1726F2A5-9D00-C3BC-CE60-17D80D5746DD}"/>
                </a:ext>
              </a:extLst>
            </p:cNvPr>
            <p:cNvSpPr/>
            <p:nvPr/>
          </p:nvSpPr>
          <p:spPr>
            <a:xfrm>
              <a:off x="2494721" y="2099144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200" b="1" dirty="0" err="1">
                  <a:solidFill>
                    <a:schemeClr val="tx1"/>
                  </a:solidFill>
                </a:rPr>
                <a:t>ViT</a:t>
              </a:r>
              <a:endParaRPr lang="it-IT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Connettore 6">
              <a:extLst>
                <a:ext uri="{FF2B5EF4-FFF2-40B4-BE49-F238E27FC236}">
                  <a16:creationId xmlns:a16="http://schemas.microsoft.com/office/drawing/2014/main" id="{62AD4B72-F87D-5D5E-8144-440397F7EF49}"/>
                </a:ext>
              </a:extLst>
            </p:cNvPr>
            <p:cNvSpPr/>
            <p:nvPr/>
          </p:nvSpPr>
          <p:spPr>
            <a:xfrm>
              <a:off x="1094629" y="2897124"/>
              <a:ext cx="500932" cy="493829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MLP</a:t>
              </a:r>
              <a:endParaRPr lang="it-IT" sz="1000" b="1" dirty="0"/>
            </a:p>
          </p:txBody>
        </p:sp>
        <p:sp>
          <p:nvSpPr>
            <p:cNvPr id="8" name="Connettore 7">
              <a:extLst>
                <a:ext uri="{FF2B5EF4-FFF2-40B4-BE49-F238E27FC236}">
                  <a16:creationId xmlns:a16="http://schemas.microsoft.com/office/drawing/2014/main" id="{0DEFD3C2-9367-D0F1-0A57-2508AAA9BEBE}"/>
                </a:ext>
              </a:extLst>
            </p:cNvPr>
            <p:cNvSpPr/>
            <p:nvPr/>
          </p:nvSpPr>
          <p:spPr>
            <a:xfrm>
              <a:off x="1795669" y="2897123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QK</a:t>
              </a:r>
              <a:endParaRPr lang="it-IT" sz="900" b="1" dirty="0"/>
            </a:p>
          </p:txBody>
        </p:sp>
        <p:sp>
          <p:nvSpPr>
            <p:cNvPr id="9" name="Connettore 8">
              <a:extLst>
                <a:ext uri="{FF2B5EF4-FFF2-40B4-BE49-F238E27FC236}">
                  <a16:creationId xmlns:a16="http://schemas.microsoft.com/office/drawing/2014/main" id="{11EA341B-C04D-EB67-EE61-14BBC59A559A}"/>
                </a:ext>
              </a:extLst>
            </p:cNvPr>
            <p:cNvSpPr/>
            <p:nvPr/>
          </p:nvSpPr>
          <p:spPr>
            <a:xfrm>
              <a:off x="2494721" y="2897123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VP</a:t>
              </a:r>
              <a:endParaRPr lang="it-IT" sz="900" b="1" dirty="0"/>
            </a:p>
          </p:txBody>
        </p:sp>
        <p:sp>
          <p:nvSpPr>
            <p:cNvPr id="10" name="Connettore 9">
              <a:extLst>
                <a:ext uri="{FF2B5EF4-FFF2-40B4-BE49-F238E27FC236}">
                  <a16:creationId xmlns:a16="http://schemas.microsoft.com/office/drawing/2014/main" id="{C784D6CF-DA35-E5C2-B974-1E56895B23A2}"/>
                </a:ext>
              </a:extLst>
            </p:cNvPr>
            <p:cNvSpPr/>
            <p:nvPr/>
          </p:nvSpPr>
          <p:spPr>
            <a:xfrm>
              <a:off x="3193773" y="2897123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H</a:t>
              </a:r>
              <a:endParaRPr lang="it-IT" sz="900" b="1" dirty="0"/>
            </a:p>
          </p:txBody>
        </p:sp>
        <p:sp>
          <p:nvSpPr>
            <p:cNvPr id="11" name="Connettore 10">
              <a:extLst>
                <a:ext uri="{FF2B5EF4-FFF2-40B4-BE49-F238E27FC236}">
                  <a16:creationId xmlns:a16="http://schemas.microsoft.com/office/drawing/2014/main" id="{544CD4C8-3655-F649-6456-D2963C6BB215}"/>
                </a:ext>
              </a:extLst>
            </p:cNvPr>
            <p:cNvSpPr/>
            <p:nvPr/>
          </p:nvSpPr>
          <p:spPr>
            <a:xfrm>
              <a:off x="3892825" y="2897122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EMB</a:t>
              </a:r>
              <a:endParaRPr lang="it-IT" sz="900" b="1" dirty="0"/>
            </a:p>
          </p:txBody>
        </p:sp>
        <p:cxnSp>
          <p:nvCxnSpPr>
            <p:cNvPr id="13" name="Connettore 2 12">
              <a:extLst>
                <a:ext uri="{FF2B5EF4-FFF2-40B4-BE49-F238E27FC236}">
                  <a16:creationId xmlns:a16="http://schemas.microsoft.com/office/drawing/2014/main" id="{5EFD64E1-D752-9D9B-6FA2-BF8718CD3790}"/>
                </a:ext>
              </a:extLst>
            </p:cNvPr>
            <p:cNvCxnSpPr>
              <a:cxnSpLocks/>
              <a:stCxn id="6" idx="4"/>
              <a:endCxn id="7" idx="7"/>
            </p:cNvCxnSpPr>
            <p:nvPr/>
          </p:nvCxnSpPr>
          <p:spPr>
            <a:xfrm flipH="1">
              <a:off x="1522201" y="2592973"/>
              <a:ext cx="1222986" cy="3764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2 14">
              <a:extLst>
                <a:ext uri="{FF2B5EF4-FFF2-40B4-BE49-F238E27FC236}">
                  <a16:creationId xmlns:a16="http://schemas.microsoft.com/office/drawing/2014/main" id="{DBA4DE07-A8C3-A50E-A7C1-F01B369D95EF}"/>
                </a:ext>
              </a:extLst>
            </p:cNvPr>
            <p:cNvCxnSpPr>
              <a:cxnSpLocks/>
              <a:stCxn id="6" idx="4"/>
              <a:endCxn id="8" idx="7"/>
            </p:cNvCxnSpPr>
            <p:nvPr/>
          </p:nvCxnSpPr>
          <p:spPr>
            <a:xfrm flipH="1">
              <a:off x="2223241" y="2592973"/>
              <a:ext cx="521946" cy="3764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C38F616A-3A84-655E-814B-D1F09BFDE30B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>
              <a:off x="2745187" y="2592973"/>
              <a:ext cx="0" cy="3041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2 24">
              <a:extLst>
                <a:ext uri="{FF2B5EF4-FFF2-40B4-BE49-F238E27FC236}">
                  <a16:creationId xmlns:a16="http://schemas.microsoft.com/office/drawing/2014/main" id="{5719884B-C745-BE9B-AB69-C01BB0D5B70D}"/>
                </a:ext>
              </a:extLst>
            </p:cNvPr>
            <p:cNvCxnSpPr>
              <a:cxnSpLocks/>
              <a:stCxn id="6" idx="4"/>
              <a:endCxn id="10" idx="1"/>
            </p:cNvCxnSpPr>
            <p:nvPr/>
          </p:nvCxnSpPr>
          <p:spPr>
            <a:xfrm>
              <a:off x="2745187" y="2592973"/>
              <a:ext cx="521946" cy="3764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74422A3C-44B0-2209-1050-88663E196FB4}"/>
                </a:ext>
              </a:extLst>
            </p:cNvPr>
            <p:cNvCxnSpPr>
              <a:cxnSpLocks/>
              <a:stCxn id="6" idx="4"/>
              <a:endCxn id="11" idx="1"/>
            </p:cNvCxnSpPr>
            <p:nvPr/>
          </p:nvCxnSpPr>
          <p:spPr>
            <a:xfrm>
              <a:off x="2745187" y="2592973"/>
              <a:ext cx="1220998" cy="3764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Connettore 40">
              <a:extLst>
                <a:ext uri="{FF2B5EF4-FFF2-40B4-BE49-F238E27FC236}">
                  <a16:creationId xmlns:a16="http://schemas.microsoft.com/office/drawing/2014/main" id="{F01BE608-B161-3E1F-D8AB-1B48303363B9}"/>
                </a:ext>
              </a:extLst>
            </p:cNvPr>
            <p:cNvSpPr/>
            <p:nvPr/>
          </p:nvSpPr>
          <p:spPr>
            <a:xfrm>
              <a:off x="1094629" y="3769367"/>
              <a:ext cx="500932" cy="493829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MLP</a:t>
              </a:r>
              <a:endParaRPr lang="it-IT" sz="1000" b="1" dirty="0"/>
            </a:p>
          </p:txBody>
        </p:sp>
        <p:sp>
          <p:nvSpPr>
            <p:cNvPr id="42" name="Connettore 41">
              <a:extLst>
                <a:ext uri="{FF2B5EF4-FFF2-40B4-BE49-F238E27FC236}">
                  <a16:creationId xmlns:a16="http://schemas.microsoft.com/office/drawing/2014/main" id="{15483677-63FE-6FF7-CA72-4EC9B5DE858C}"/>
                </a:ext>
              </a:extLst>
            </p:cNvPr>
            <p:cNvSpPr/>
            <p:nvPr/>
          </p:nvSpPr>
          <p:spPr>
            <a:xfrm>
              <a:off x="1795669" y="3769366"/>
              <a:ext cx="500932" cy="493829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QK</a:t>
              </a:r>
              <a:endParaRPr lang="it-IT" sz="900" b="1" dirty="0"/>
            </a:p>
          </p:txBody>
        </p:sp>
        <p:sp>
          <p:nvSpPr>
            <p:cNvPr id="43" name="Connettore 42">
              <a:extLst>
                <a:ext uri="{FF2B5EF4-FFF2-40B4-BE49-F238E27FC236}">
                  <a16:creationId xmlns:a16="http://schemas.microsoft.com/office/drawing/2014/main" id="{6E9FF2D1-5195-6E9A-88C7-DACF4D1F22E0}"/>
                </a:ext>
              </a:extLst>
            </p:cNvPr>
            <p:cNvSpPr/>
            <p:nvPr/>
          </p:nvSpPr>
          <p:spPr>
            <a:xfrm>
              <a:off x="2494721" y="3769366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VP</a:t>
              </a:r>
              <a:endParaRPr lang="it-IT" sz="900" b="1" dirty="0"/>
            </a:p>
          </p:txBody>
        </p:sp>
        <p:sp>
          <p:nvSpPr>
            <p:cNvPr id="44" name="Connettore 43">
              <a:extLst>
                <a:ext uri="{FF2B5EF4-FFF2-40B4-BE49-F238E27FC236}">
                  <a16:creationId xmlns:a16="http://schemas.microsoft.com/office/drawing/2014/main" id="{57CAED69-8379-2104-2A2F-19BB9347A4FB}"/>
                </a:ext>
              </a:extLst>
            </p:cNvPr>
            <p:cNvSpPr/>
            <p:nvPr/>
          </p:nvSpPr>
          <p:spPr>
            <a:xfrm>
              <a:off x="3193773" y="3769366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H</a:t>
              </a:r>
              <a:endParaRPr lang="it-IT" sz="900" b="1" dirty="0"/>
            </a:p>
          </p:txBody>
        </p:sp>
        <p:sp>
          <p:nvSpPr>
            <p:cNvPr id="45" name="Connettore 44">
              <a:extLst>
                <a:ext uri="{FF2B5EF4-FFF2-40B4-BE49-F238E27FC236}">
                  <a16:creationId xmlns:a16="http://schemas.microsoft.com/office/drawing/2014/main" id="{05C3C5C9-16D4-566B-5E21-77D681C49D17}"/>
                </a:ext>
              </a:extLst>
            </p:cNvPr>
            <p:cNvSpPr/>
            <p:nvPr/>
          </p:nvSpPr>
          <p:spPr>
            <a:xfrm>
              <a:off x="3892825" y="3769365"/>
              <a:ext cx="500932" cy="493829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solidFill>
                    <a:schemeClr val="tx1"/>
                  </a:solidFill>
                </a:rPr>
                <a:t>EMB</a:t>
              </a:r>
              <a:endParaRPr lang="it-IT" sz="900" b="1" dirty="0"/>
            </a:p>
          </p:txBody>
        </p:sp>
        <p:cxnSp>
          <p:nvCxnSpPr>
            <p:cNvPr id="58" name="Connettore 2 57">
              <a:extLst>
                <a:ext uri="{FF2B5EF4-FFF2-40B4-BE49-F238E27FC236}">
                  <a16:creationId xmlns:a16="http://schemas.microsoft.com/office/drawing/2014/main" id="{F51F2336-F937-E14B-0090-31EAFC68D259}"/>
                </a:ext>
              </a:extLst>
            </p:cNvPr>
            <p:cNvCxnSpPr>
              <a:stCxn id="7" idx="4"/>
              <a:endCxn id="41" idx="0"/>
            </p:cNvCxnSpPr>
            <p:nvPr/>
          </p:nvCxnSpPr>
          <p:spPr>
            <a:xfrm>
              <a:off x="1345095" y="3390953"/>
              <a:ext cx="0" cy="3784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2 59">
              <a:extLst>
                <a:ext uri="{FF2B5EF4-FFF2-40B4-BE49-F238E27FC236}">
                  <a16:creationId xmlns:a16="http://schemas.microsoft.com/office/drawing/2014/main" id="{6D02917A-A16B-E457-8765-6477CC12A9A4}"/>
                </a:ext>
              </a:extLst>
            </p:cNvPr>
            <p:cNvCxnSpPr>
              <a:stCxn id="7" idx="4"/>
              <a:endCxn id="42" idx="1"/>
            </p:cNvCxnSpPr>
            <p:nvPr/>
          </p:nvCxnSpPr>
          <p:spPr>
            <a:xfrm>
              <a:off x="1345095" y="3390953"/>
              <a:ext cx="523934" cy="450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2 61">
              <a:extLst>
                <a:ext uri="{FF2B5EF4-FFF2-40B4-BE49-F238E27FC236}">
                  <a16:creationId xmlns:a16="http://schemas.microsoft.com/office/drawing/2014/main" id="{8697A5E2-8C06-7C4B-11D5-B28EC328273E}"/>
                </a:ext>
              </a:extLst>
            </p:cNvPr>
            <p:cNvCxnSpPr>
              <a:stCxn id="7" idx="4"/>
              <a:endCxn id="43" idx="1"/>
            </p:cNvCxnSpPr>
            <p:nvPr/>
          </p:nvCxnSpPr>
          <p:spPr>
            <a:xfrm>
              <a:off x="1345095" y="3390953"/>
              <a:ext cx="1222986" cy="450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2 63">
              <a:extLst>
                <a:ext uri="{FF2B5EF4-FFF2-40B4-BE49-F238E27FC236}">
                  <a16:creationId xmlns:a16="http://schemas.microsoft.com/office/drawing/2014/main" id="{47769AA9-4D43-F4C8-5B85-ACB260287FEC}"/>
                </a:ext>
              </a:extLst>
            </p:cNvPr>
            <p:cNvCxnSpPr>
              <a:cxnSpLocks/>
              <a:stCxn id="7" idx="4"/>
              <a:endCxn id="44" idx="1"/>
            </p:cNvCxnSpPr>
            <p:nvPr/>
          </p:nvCxnSpPr>
          <p:spPr>
            <a:xfrm>
              <a:off x="1345095" y="3390953"/>
              <a:ext cx="1922038" cy="4507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2 66">
              <a:extLst>
                <a:ext uri="{FF2B5EF4-FFF2-40B4-BE49-F238E27FC236}">
                  <a16:creationId xmlns:a16="http://schemas.microsoft.com/office/drawing/2014/main" id="{30CBA18C-851E-CA42-C401-E205ED1B2EDE}"/>
                </a:ext>
              </a:extLst>
            </p:cNvPr>
            <p:cNvCxnSpPr>
              <a:stCxn id="7" idx="4"/>
              <a:endCxn id="45" idx="1"/>
            </p:cNvCxnSpPr>
            <p:nvPr/>
          </p:nvCxnSpPr>
          <p:spPr>
            <a:xfrm>
              <a:off x="1345095" y="3390953"/>
              <a:ext cx="2621090" cy="4507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asellaDiTesto 67">
              <a:extLst>
                <a:ext uri="{FF2B5EF4-FFF2-40B4-BE49-F238E27FC236}">
                  <a16:creationId xmlns:a16="http://schemas.microsoft.com/office/drawing/2014/main" id="{418C4B55-3A45-B519-30BC-E4FDC0387DA3}"/>
                </a:ext>
              </a:extLst>
            </p:cNvPr>
            <p:cNvSpPr txBox="1"/>
            <p:nvPr/>
          </p:nvSpPr>
          <p:spPr>
            <a:xfrm>
              <a:off x="885670" y="4318531"/>
              <a:ext cx="918849" cy="436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000" b="1" dirty="0" err="1"/>
                <a:t>Pruned</a:t>
              </a:r>
              <a:r>
                <a:rPr lang="it-IT" sz="1000" b="1" dirty="0"/>
                <a:t> by </a:t>
              </a:r>
              <a:r>
                <a:rPr lang="it-IT" sz="1000" b="1" dirty="0" err="1"/>
                <a:t>Bound</a:t>
              </a:r>
              <a:r>
                <a:rPr lang="it-IT" sz="1000" b="1" dirty="0"/>
                <a:t> on Best Value</a:t>
              </a:r>
            </a:p>
          </p:txBody>
        </p:sp>
      </p:grpSp>
      <p:pic>
        <p:nvPicPr>
          <p:cNvPr id="23" name="Immagine 22">
            <a:extLst>
              <a:ext uri="{FF2B5EF4-FFF2-40B4-BE49-F238E27FC236}">
                <a16:creationId xmlns:a16="http://schemas.microsoft.com/office/drawing/2014/main" id="{F4D2A1B1-4D30-D331-D92D-C70B98AFD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181" y="3197970"/>
            <a:ext cx="2390772" cy="54788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EB5F962-7F9D-D693-B448-1EEFB71ED080}"/>
              </a:ext>
            </a:extLst>
          </p:cNvPr>
          <p:cNvSpPr txBox="1"/>
          <p:nvPr/>
        </p:nvSpPr>
        <p:spPr>
          <a:xfrm>
            <a:off x="5750425" y="2492870"/>
            <a:ext cx="6158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</a:rPr>
              <a:t>The </a:t>
            </a:r>
            <a:r>
              <a:rPr lang="en-US" sz="1600" noProof="0" dirty="0">
                <a:solidFill>
                  <a:srgbClr val="1DA0E2"/>
                </a:solidFill>
              </a:rPr>
              <a:t>Bound</a:t>
            </a:r>
            <a:r>
              <a:rPr lang="en-US" sz="1600" noProof="0" dirty="0">
                <a:solidFill>
                  <a:schemeClr val="bg1"/>
                </a:solidFill>
              </a:rPr>
              <a:t> phase is carried out by verifying a simple condition on every node, after the exploration. </a:t>
            </a:r>
          </a:p>
        </p:txBody>
      </p:sp>
      <p:sp>
        <p:nvSpPr>
          <p:cNvPr id="12" name="Google Shape;101;p14">
            <a:extLst>
              <a:ext uri="{FF2B5EF4-FFF2-40B4-BE49-F238E27FC236}">
                <a16:creationId xmlns:a16="http://schemas.microsoft.com/office/drawing/2014/main" id="{DE1F42E1-A07F-E852-0F2F-A335EA7C1359}"/>
              </a:ext>
            </a:extLst>
          </p:cNvPr>
          <p:cNvSpPr txBox="1"/>
          <p:nvPr/>
        </p:nvSpPr>
        <p:spPr>
          <a:xfrm>
            <a:off x="762000" y="562213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Neural Architecture Search with Branch and Bound</a:t>
            </a:r>
            <a:endParaRPr lang="en-US" noProof="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71D6479-3542-645F-5588-168B36A35BEC}"/>
              </a:ext>
            </a:extLst>
          </p:cNvPr>
          <p:cNvSpPr txBox="1"/>
          <p:nvPr/>
        </p:nvSpPr>
        <p:spPr>
          <a:xfrm>
            <a:off x="5750425" y="3945880"/>
            <a:ext cx="61582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</a:rPr>
              <a:t>T</a:t>
            </a:r>
            <a:r>
              <a:rPr lang="en-US" sz="1600" dirty="0">
                <a:solidFill>
                  <a:schemeClr val="bg1"/>
                </a:solidFill>
              </a:rPr>
              <a:t>his process is repeated during every compression iteration. To prevent excessive performance degradation the depth of the search tree is limited to 6 actions. </a:t>
            </a:r>
            <a:endParaRPr lang="en-US" sz="1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77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EA80CD06-871F-5F5E-2F49-EF1E88962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A4D853D5-AB54-473D-F032-8C5A78E0F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936BF463-4C1B-3BBF-F782-BDC0E67C26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9EA5719B-0F58-6BEA-3200-DBC301D9355E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NAS ACTIONS: MLP Pruning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2E3C5899-8359-A413-8533-FBD850662070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71AC49-C04F-4AAC-6352-4F70365D8A9A}"/>
              </a:ext>
            </a:extLst>
          </p:cNvPr>
          <p:cNvSpPr txBox="1"/>
          <p:nvPr/>
        </p:nvSpPr>
        <p:spPr>
          <a:xfrm>
            <a:off x="607445" y="1354723"/>
            <a:ext cx="1097710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search process includes 5 possible pruning actions that can be chosen to maximize the objective function: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• </a:t>
            </a:r>
            <a:r>
              <a:rPr lang="en-US" sz="1600" b="1" dirty="0">
                <a:solidFill>
                  <a:schemeClr val="bg1"/>
                </a:solidFill>
              </a:rPr>
              <a:t>Pruning Multi-Layer Perceptron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Query-Key Pruning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Value-Projection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Head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Embedding Pruning</a:t>
            </a:r>
          </a:p>
          <a:p>
            <a:endParaRPr lang="en-US" sz="1600" b="1" noProof="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All actions except the last are </a:t>
            </a:r>
            <a:r>
              <a:rPr lang="en-US" sz="1600" dirty="0">
                <a:solidFill>
                  <a:srgbClr val="1DA0E2"/>
                </a:solidFill>
              </a:rPr>
              <a:t>block-specific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r>
              <a:rPr lang="en-US" sz="1600" dirty="0">
                <a:solidFill>
                  <a:schemeClr val="bg1"/>
                </a:solidFill>
              </a:rPr>
              <a:t>First, we identify the set of dimensions with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lowest importance for each block. Finally</a:t>
            </a:r>
          </a:p>
          <a:p>
            <a:r>
              <a:rPr lang="en-US" sz="1600" dirty="0">
                <a:solidFill>
                  <a:schemeClr val="bg1"/>
                </a:solidFill>
              </a:rPr>
              <a:t>we choose the block with the least importance.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C2D533A-E954-B08B-4F4E-FC16E2CD8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9186" y="1971516"/>
            <a:ext cx="6180814" cy="3476708"/>
          </a:xfrm>
          <a:prstGeom prst="rect">
            <a:avLst/>
          </a:prstGeom>
          <a:ln w="28575">
            <a:solidFill>
              <a:srgbClr val="1DA0E2"/>
            </a:solidFill>
          </a:ln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B574AF3E-514D-4556-C20A-ABA08C91DC0A}"/>
              </a:ext>
            </a:extLst>
          </p:cNvPr>
          <p:cNvCxnSpPr>
            <a:cxnSpLocks/>
          </p:cNvCxnSpPr>
          <p:nvPr/>
        </p:nvCxnSpPr>
        <p:spPr>
          <a:xfrm>
            <a:off x="4015409" y="2289976"/>
            <a:ext cx="1079225" cy="349857"/>
          </a:xfrm>
          <a:prstGeom prst="straightConnector1">
            <a:avLst/>
          </a:prstGeom>
          <a:ln>
            <a:solidFill>
              <a:srgbClr val="1DA0E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03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0AD8CE03-62EA-3F8A-3FDC-3DFEFDBE1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C945E85D-CEB9-B486-C63B-09CB273120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05B9ADB5-4E83-4C60-E969-3C5B9D2158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8DC09550-8326-67DE-9AF1-E41CA4155CE4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NAS ACTIONS: QK Pruning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B578B729-241E-65DB-ADC6-C8A471F9F4CB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10E485B-4C29-6B04-4835-99EC70EF4879}"/>
              </a:ext>
            </a:extLst>
          </p:cNvPr>
          <p:cNvSpPr txBox="1"/>
          <p:nvPr/>
        </p:nvSpPr>
        <p:spPr>
          <a:xfrm>
            <a:off x="607445" y="1354723"/>
            <a:ext cx="1097710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search process includes 5 possible pruning actions that can be chosen to maximize the objective function: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• </a:t>
            </a:r>
            <a:r>
              <a:rPr lang="en-US" sz="1600" b="1" dirty="0">
                <a:solidFill>
                  <a:schemeClr val="bg1"/>
                </a:solidFill>
              </a:rPr>
              <a:t>Pruning Multi-Layer Perceptron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Query-Key Pruning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Value-Projection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Head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Embedding Pruning</a:t>
            </a:r>
          </a:p>
          <a:p>
            <a:endParaRPr lang="en-US" sz="1600" b="1" noProof="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All actions except the last are </a:t>
            </a:r>
            <a:r>
              <a:rPr lang="en-US" sz="1600" dirty="0">
                <a:solidFill>
                  <a:srgbClr val="1DA0E2"/>
                </a:solidFill>
              </a:rPr>
              <a:t>block-specific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r>
              <a:rPr lang="en-US" sz="1600" dirty="0">
                <a:solidFill>
                  <a:schemeClr val="bg1"/>
                </a:solidFill>
              </a:rPr>
              <a:t>First, we identify the set of dimensions with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lowest importance for each block. Finally</a:t>
            </a:r>
          </a:p>
          <a:p>
            <a:r>
              <a:rPr lang="en-US" sz="1600" dirty="0">
                <a:solidFill>
                  <a:schemeClr val="bg1"/>
                </a:solidFill>
              </a:rPr>
              <a:t>we choose the block with the least importance.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E215BB-6CAB-9890-E6D2-9FBA21D198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49186" y="1971516"/>
            <a:ext cx="6180814" cy="3476707"/>
          </a:xfrm>
          <a:prstGeom prst="rect">
            <a:avLst/>
          </a:prstGeom>
          <a:ln w="28575">
            <a:solidFill>
              <a:srgbClr val="1DA0E2"/>
            </a:solidFill>
          </a:ln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106A1B87-A9B6-2A77-619F-44DA2FCCCAB1}"/>
              </a:ext>
            </a:extLst>
          </p:cNvPr>
          <p:cNvCxnSpPr>
            <a:cxnSpLocks/>
          </p:cNvCxnSpPr>
          <p:nvPr/>
        </p:nvCxnSpPr>
        <p:spPr>
          <a:xfrm flipV="1">
            <a:off x="2822713" y="2639833"/>
            <a:ext cx="2271921" cy="87464"/>
          </a:xfrm>
          <a:prstGeom prst="straightConnector1">
            <a:avLst/>
          </a:prstGeom>
          <a:ln>
            <a:solidFill>
              <a:srgbClr val="1DA0E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738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CA00610B-8B21-497C-BB5E-C26F062A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C517C309-E5C8-23AA-23A6-90C508D17A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873499DC-1A3A-B818-A214-F6A963DFC8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935B85F4-7CEE-0B99-21BF-26C7AB53FD9D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NAS ACTIONS: </a:t>
            </a:r>
            <a:r>
              <a:rPr lang="en-US" sz="3000" b="1" dirty="0" err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VProj</a:t>
            </a: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 Pruning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0B8582E4-E650-DAD5-9B95-26BC45A052DF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270C462-EB72-11CF-BD79-8CA739303001}"/>
              </a:ext>
            </a:extLst>
          </p:cNvPr>
          <p:cNvSpPr txBox="1"/>
          <p:nvPr/>
        </p:nvSpPr>
        <p:spPr>
          <a:xfrm>
            <a:off x="607445" y="1354723"/>
            <a:ext cx="1097710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search process includes 5 possible pruning actions that can be chosen to maximize the objective function: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• </a:t>
            </a:r>
            <a:r>
              <a:rPr lang="en-US" sz="1600" b="1" dirty="0">
                <a:solidFill>
                  <a:schemeClr val="bg1"/>
                </a:solidFill>
              </a:rPr>
              <a:t>Pruning Multi-Layer Perceptron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Query-Key Pruning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Value-Projection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Head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Embedding Pruning</a:t>
            </a:r>
          </a:p>
          <a:p>
            <a:endParaRPr lang="en-US" sz="1600" b="1" noProof="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All actions except the last are </a:t>
            </a:r>
            <a:r>
              <a:rPr lang="en-US" sz="1600" dirty="0">
                <a:solidFill>
                  <a:srgbClr val="1DA0E2"/>
                </a:solidFill>
              </a:rPr>
              <a:t>block-specific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r>
              <a:rPr lang="en-US" sz="1600" dirty="0">
                <a:solidFill>
                  <a:schemeClr val="bg1"/>
                </a:solidFill>
              </a:rPr>
              <a:t>First, we identify the set of dimensions with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lowest importance for each block. Finally</a:t>
            </a:r>
          </a:p>
          <a:p>
            <a:r>
              <a:rPr lang="en-US" sz="1600" dirty="0">
                <a:solidFill>
                  <a:schemeClr val="bg1"/>
                </a:solidFill>
              </a:rPr>
              <a:t>we choose the block with the least importance.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809E195-3233-3C72-7413-8A6475F8BC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49187" y="1971516"/>
            <a:ext cx="6180812" cy="3476707"/>
          </a:xfrm>
          <a:prstGeom prst="rect">
            <a:avLst/>
          </a:prstGeom>
          <a:ln w="28575">
            <a:solidFill>
              <a:srgbClr val="1DA0E2"/>
            </a:solidFill>
          </a:ln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8ECECA24-9730-338D-FDF4-BB56EF25F788}"/>
              </a:ext>
            </a:extLst>
          </p:cNvPr>
          <p:cNvCxnSpPr>
            <a:cxnSpLocks/>
          </p:cNvCxnSpPr>
          <p:nvPr/>
        </p:nvCxnSpPr>
        <p:spPr>
          <a:xfrm flipV="1">
            <a:off x="3387256" y="2957885"/>
            <a:ext cx="1685676" cy="238539"/>
          </a:xfrm>
          <a:prstGeom prst="straightConnector1">
            <a:avLst/>
          </a:prstGeom>
          <a:ln>
            <a:solidFill>
              <a:srgbClr val="1DA0E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39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AC59C2EE-36C2-C05A-6B81-00472292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1DA44405-9A3D-EA35-772F-9884FEE3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FFC47CE2-9CAB-2B5A-A7E8-505DFE22BA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9B57E945-DC35-7B92-6815-B6986FDFAC00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NAS ACTIONS: Head Pruning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CB2C75BC-AA5D-07B0-2AC1-9B2D6781082F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123016E-F86F-C745-4AD6-55F553106874}"/>
              </a:ext>
            </a:extLst>
          </p:cNvPr>
          <p:cNvSpPr txBox="1"/>
          <p:nvPr/>
        </p:nvSpPr>
        <p:spPr>
          <a:xfrm>
            <a:off x="607445" y="1354723"/>
            <a:ext cx="1097710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search process includes 5 possible pruning actions that can be chosen to maximize the objective function: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• </a:t>
            </a:r>
            <a:r>
              <a:rPr lang="en-US" sz="1600" b="1" dirty="0">
                <a:solidFill>
                  <a:schemeClr val="bg1"/>
                </a:solidFill>
              </a:rPr>
              <a:t>Pruning Multi-Layer Perceptron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Query-Key Pruning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Value-Projection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Head Pruning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</a:t>
            </a:r>
            <a:r>
              <a:rPr lang="en-US" sz="1600" b="1" dirty="0">
                <a:solidFill>
                  <a:schemeClr val="bg1"/>
                </a:solidFill>
              </a:rPr>
              <a:t>Embedding Pruning</a:t>
            </a:r>
          </a:p>
          <a:p>
            <a:endParaRPr lang="en-US" sz="1600" b="1" noProof="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All actions except the last are </a:t>
            </a:r>
            <a:r>
              <a:rPr lang="en-US" sz="1600" dirty="0">
                <a:solidFill>
                  <a:srgbClr val="1DA0E2"/>
                </a:solidFill>
              </a:rPr>
              <a:t>block-specific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r>
              <a:rPr lang="en-US" sz="1600" dirty="0">
                <a:solidFill>
                  <a:schemeClr val="bg1"/>
                </a:solidFill>
              </a:rPr>
              <a:t>First, we identify the set of dimensions with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lowest importance for each block. Finally</a:t>
            </a:r>
          </a:p>
          <a:p>
            <a:r>
              <a:rPr lang="en-US" sz="1600" dirty="0">
                <a:solidFill>
                  <a:schemeClr val="bg1"/>
                </a:solidFill>
              </a:rPr>
              <a:t>we choose the block with the least importance.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DE9164B-14B4-0765-A84B-3F7C652266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49187" y="1971516"/>
            <a:ext cx="6180812" cy="3476706"/>
          </a:xfrm>
          <a:prstGeom prst="rect">
            <a:avLst/>
          </a:prstGeom>
          <a:ln w="28575">
            <a:solidFill>
              <a:srgbClr val="1DA0E2"/>
            </a:solidFill>
          </a:ln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6F63E3B0-39E8-70C0-B0A1-C49829EED9F6}"/>
              </a:ext>
            </a:extLst>
          </p:cNvPr>
          <p:cNvCxnSpPr>
            <a:cxnSpLocks/>
          </p:cNvCxnSpPr>
          <p:nvPr/>
        </p:nvCxnSpPr>
        <p:spPr>
          <a:xfrm flipV="1">
            <a:off x="2234317" y="3506525"/>
            <a:ext cx="2782956" cy="222637"/>
          </a:xfrm>
          <a:prstGeom prst="straightConnector1">
            <a:avLst/>
          </a:prstGeom>
          <a:ln>
            <a:solidFill>
              <a:srgbClr val="1DA0E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892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EA427B60-8C08-EACF-5CEE-C386865E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4771FC24-06C7-F793-9B00-9E76494F44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C1CFCF91-2214-EA46-CB26-1F5642D6D1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050A8C7B-F9DD-FB02-B0E0-1A1E743DEA43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NAS ACTIONS: Embedding Pruning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6254C80C-144A-F0BD-D62B-B8A43D2DA7EA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175E7A-3C78-6190-72B7-B0D3D6D78A9D}"/>
              </a:ext>
            </a:extLst>
          </p:cNvPr>
          <p:cNvSpPr txBox="1"/>
          <p:nvPr/>
        </p:nvSpPr>
        <p:spPr>
          <a:xfrm>
            <a:off x="607445" y="1354723"/>
            <a:ext cx="109771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By pruning the embedding dimension every weight tensor in the model is made smaller. This action is the most important to increase the performance of the </a:t>
            </a:r>
            <a:r>
              <a:rPr lang="en-US" sz="1600" dirty="0" err="1">
                <a:solidFill>
                  <a:schemeClr val="bg1"/>
                </a:solidFill>
              </a:rPr>
              <a:t>ViT</a:t>
            </a:r>
            <a:r>
              <a:rPr lang="en-US" sz="1600" dirty="0">
                <a:solidFill>
                  <a:schemeClr val="bg1"/>
                </a:solidFill>
              </a:rPr>
              <a:t> model, but it has a great impact on accuracy.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9CED778-E420-8BDE-0D59-12B6A335F7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22446" y="2431941"/>
            <a:ext cx="5362277" cy="3016281"/>
          </a:xfrm>
          <a:prstGeom prst="rect">
            <a:avLst/>
          </a:prstGeom>
          <a:ln w="28575">
            <a:solidFill>
              <a:srgbClr val="1DA0E2"/>
            </a:solidFill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7AF5E01-76FB-ECD3-8F53-376BF0A51E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7278" y="2420367"/>
            <a:ext cx="5362277" cy="3016281"/>
          </a:xfrm>
          <a:prstGeom prst="rect">
            <a:avLst/>
          </a:prstGeom>
          <a:ln w="28575">
            <a:solidFill>
              <a:srgbClr val="1DA0E2"/>
            </a:solidFill>
          </a:ln>
        </p:spPr>
      </p:pic>
    </p:spTree>
    <p:extLst>
      <p:ext uri="{BB962C8B-B14F-4D97-AF65-F5344CB8AC3E}">
        <p14:creationId xmlns:p14="http://schemas.microsoft.com/office/powerpoint/2010/main" val="2125413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D49654D2-2B5D-5F80-C4AA-C4DAE689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AFE1784B-A0F5-625F-80A4-7A5635E216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AD982DDE-48FA-1B66-0C7E-3DE072B128C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E74FCDD8-56AC-6729-81FA-EC95DF13F8BB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Metrics used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5A50C1D4-1082-48E9-F75B-62A25DFA5E5A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7444693-348A-BDDC-1C12-F0EE831DF332}"/>
              </a:ext>
            </a:extLst>
          </p:cNvPr>
          <p:cNvSpPr txBox="1"/>
          <p:nvPr/>
        </p:nvSpPr>
        <p:spPr>
          <a:xfrm>
            <a:off x="762000" y="1758001"/>
            <a:ext cx="10668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A0E2"/>
                </a:solidFill>
              </a:rPr>
              <a:t>Accuracy (%):</a:t>
            </a:r>
            <a:r>
              <a:rPr lang="en-US" sz="1600" dirty="0">
                <a:solidFill>
                  <a:schemeClr val="bg1"/>
                </a:solidFill>
              </a:rPr>
              <a:t> the final model Top-1 Accuracy computed on the test set.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A0E2"/>
                </a:solidFill>
              </a:rPr>
              <a:t>Parameter count (MLN): </a:t>
            </a:r>
            <a:r>
              <a:rPr lang="en-US" sz="1600" dirty="0">
                <a:solidFill>
                  <a:schemeClr val="bg1"/>
                </a:solidFill>
              </a:rPr>
              <a:t>the final number of parameters in the compressed </a:t>
            </a:r>
            <a:r>
              <a:rPr lang="en-US" sz="1600" dirty="0" err="1">
                <a:solidFill>
                  <a:schemeClr val="bg1"/>
                </a:solidFill>
              </a:rPr>
              <a:t>ViT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b="1" dirty="0">
              <a:solidFill>
                <a:srgbClr val="1DA0E2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A0E2"/>
                </a:solidFill>
              </a:rPr>
              <a:t>GFLOPS: </a:t>
            </a:r>
            <a:r>
              <a:rPr lang="en-US" sz="1600" dirty="0">
                <a:solidFill>
                  <a:schemeClr val="bg1"/>
                </a:solidFill>
              </a:rPr>
              <a:t>the number of floating-point operations for a single forward pass (1 GFLOPS = 1x10^9 FLOPS).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b="1" dirty="0">
              <a:solidFill>
                <a:srgbClr val="1DA0E2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A0E2"/>
                </a:solidFill>
              </a:rPr>
              <a:t>Throughput (</a:t>
            </a:r>
            <a:r>
              <a:rPr lang="en-US" sz="1600" b="1" dirty="0" err="1">
                <a:solidFill>
                  <a:srgbClr val="1DA0E2"/>
                </a:solidFill>
              </a:rPr>
              <a:t>img</a:t>
            </a:r>
            <a:r>
              <a:rPr lang="en-US" sz="1600" b="1" dirty="0">
                <a:solidFill>
                  <a:srgbClr val="1DA0E2"/>
                </a:solidFill>
              </a:rPr>
              <a:t>/s): </a:t>
            </a:r>
            <a:r>
              <a:rPr lang="en-US" sz="1600" dirty="0">
                <a:solidFill>
                  <a:schemeClr val="bg1"/>
                </a:solidFill>
              </a:rPr>
              <a:t>the number of images the model can process per second.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DA0E2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A0E2"/>
                </a:solidFill>
              </a:rPr>
              <a:t>Latency (</a:t>
            </a:r>
            <a:r>
              <a:rPr lang="en-US" sz="1600" b="1" dirty="0" err="1">
                <a:solidFill>
                  <a:srgbClr val="1DA0E2"/>
                </a:solidFill>
              </a:rPr>
              <a:t>ms</a:t>
            </a:r>
            <a:r>
              <a:rPr lang="en-US" sz="1600" b="1" dirty="0">
                <a:solidFill>
                  <a:srgbClr val="1DA0E2"/>
                </a:solidFill>
              </a:rPr>
              <a:t>): </a:t>
            </a:r>
            <a:r>
              <a:rPr lang="en-US" sz="1600" dirty="0">
                <a:solidFill>
                  <a:schemeClr val="bg1"/>
                </a:solidFill>
              </a:rPr>
              <a:t>the time required to process a single image.</a:t>
            </a:r>
            <a:endParaRPr lang="en-US" sz="1600" b="1" dirty="0">
              <a:solidFill>
                <a:srgbClr val="1DA0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73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A7755482-998D-81A9-4296-73203832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0100D173-7735-FCDD-EFEB-5CC4FAE9B4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3777453C-914E-5914-4CB9-5F9AEC2A3C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66D987B7-9267-0185-5057-AC2A2A136E52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 err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ViT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-S Compression on CIFAR100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E7636D57-B612-CAD5-4F9D-49AA7CCC44C9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EF1A82-2B4C-4A7B-E2C3-AB960D90B4DE}"/>
              </a:ext>
            </a:extLst>
          </p:cNvPr>
          <p:cNvSpPr txBox="1"/>
          <p:nvPr/>
        </p:nvSpPr>
        <p:spPr>
          <a:xfrm>
            <a:off x="448253" y="3400689"/>
            <a:ext cx="112954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These tests use the same configuration of 15 iterations and 20 fine tuning epochs. </a:t>
            </a:r>
          </a:p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On CIFAR100 the results show a negligible impact on accuracy (especially using Knowledge Distillation), with an almost </a:t>
            </a:r>
            <a:r>
              <a:rPr lang="en-US" sz="1600" dirty="0">
                <a:solidFill>
                  <a:srgbClr val="1DA0E2"/>
                </a:solidFill>
              </a:rPr>
              <a:t>30% compression rate</a:t>
            </a:r>
            <a:r>
              <a:rPr lang="en-US" sz="1600" dirty="0">
                <a:solidFill>
                  <a:schemeClr val="bg1"/>
                </a:solidFill>
              </a:rPr>
              <a:t>. Thanks to the reconstruction of the model, </a:t>
            </a:r>
            <a:r>
              <a:rPr lang="en-US" sz="1600" dirty="0">
                <a:solidFill>
                  <a:srgbClr val="1DA0E2"/>
                </a:solidFill>
              </a:rPr>
              <a:t>throughput and latency</a:t>
            </a:r>
            <a:r>
              <a:rPr lang="en-US" sz="1600" dirty="0">
                <a:solidFill>
                  <a:schemeClr val="bg1"/>
                </a:solidFill>
              </a:rPr>
              <a:t> both show around </a:t>
            </a:r>
            <a:r>
              <a:rPr lang="en-US" sz="1600" dirty="0">
                <a:solidFill>
                  <a:srgbClr val="1DA0E2"/>
                </a:solidFill>
              </a:rPr>
              <a:t>20% improvement</a:t>
            </a:r>
            <a:r>
              <a:rPr lang="en-US" sz="1600" dirty="0">
                <a:solidFill>
                  <a:schemeClr val="bg1"/>
                </a:solidFill>
              </a:rPr>
              <a:t> on a NVIDIA RTX 4080 mobile.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98BC0EC-9A76-C278-57CF-8A353C074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167" y="4592408"/>
            <a:ext cx="8957662" cy="1138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CE2887A-293C-9660-E41E-AAD026C6D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2271" y="1493585"/>
            <a:ext cx="8207451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99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5BD7EC8-9658-5737-450B-0B622EDF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5A270EC0-8104-54D4-5A12-74F4561A19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06ACB627-FE1A-2B98-C669-51AA1219BC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DF6B4AE3-1F2C-2680-E994-44AE711F2795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 err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ViT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-S Compression </a:t>
            </a: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on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 CIFAR100</a:t>
            </a: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 - analysis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EF1E78D6-18BA-1362-2863-F7D2B126452D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2B313DC-5908-C615-CF0D-3BA3843359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06"/>
          <a:stretch>
            <a:fillRect/>
          </a:stretch>
        </p:blipFill>
        <p:spPr>
          <a:xfrm>
            <a:off x="762000" y="1574165"/>
            <a:ext cx="6092024" cy="41502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27DB6B-6BAE-951A-E2E8-7CE1A5E847CC}"/>
              </a:ext>
            </a:extLst>
          </p:cNvPr>
          <p:cNvSpPr txBox="1"/>
          <p:nvPr/>
        </p:nvSpPr>
        <p:spPr>
          <a:xfrm>
            <a:off x="7124369" y="1782395"/>
            <a:ext cx="45453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These plots were obtained during the test with KD enabled, but the same patterns can be observed in the test without KD.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noProof="0" dirty="0">
                <a:solidFill>
                  <a:schemeClr val="bg1"/>
                </a:solidFill>
              </a:rPr>
              <a:t>On CIFAR</a:t>
            </a:r>
            <a:r>
              <a:rPr lang="en-US" sz="1600" dirty="0">
                <a:solidFill>
                  <a:schemeClr val="bg1"/>
                </a:solidFill>
              </a:rPr>
              <a:t>100 the compression process cuts 72 out of 384 embedding dimensions, because the images are 32x32, so there is a lot of redundancy in the original model.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noProof="0" dirty="0">
                <a:solidFill>
                  <a:schemeClr val="bg1"/>
                </a:solidFill>
              </a:rPr>
              <a:t>The other dimensions show a clear pattern, in the blocks closer to input, attention is less important, while the ones closer to output do not need all </a:t>
            </a:r>
            <a:r>
              <a:rPr lang="en-US" sz="1600" noProof="0" dirty="0" err="1">
                <a:solidFill>
                  <a:schemeClr val="bg1"/>
                </a:solidFill>
              </a:rPr>
              <a:t>th</a:t>
            </a:r>
            <a:r>
              <a:rPr lang="en-US" sz="1600" dirty="0">
                <a:solidFill>
                  <a:schemeClr val="bg1"/>
                </a:solidFill>
              </a:rPr>
              <a:t>e MLP dimensions.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728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0309DDB0-2AF0-366D-DA88-F3972C0A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47B779D0-6339-802B-625B-49002FCFE0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213693CB-E227-DBB4-30DA-0B03309276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86F79344-C563-2802-F001-E6187D94CCF4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noProof="0" dirty="0" err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ViT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-S Compression </a:t>
            </a: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on</a:t>
            </a:r>
            <a:r>
              <a:rPr lang="en-US" sz="3000" b="1" noProof="0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ImageNet-1K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00E1DE43-9B24-B8CE-784A-D58747E44FD5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FF58D5-AA38-4A09-FC98-29B029AFEFAC}"/>
              </a:ext>
            </a:extLst>
          </p:cNvPr>
          <p:cNvSpPr txBox="1"/>
          <p:nvPr/>
        </p:nvSpPr>
        <p:spPr>
          <a:xfrm>
            <a:off x="448251" y="3118898"/>
            <a:ext cx="11295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1600" dirty="0">
                <a:solidFill>
                  <a:schemeClr val="bg1"/>
                </a:solidFill>
              </a:rPr>
              <a:t>These tests use the same configuration of 15 iterations but 10 fine-tuning epochs. On ImageNet-1K, the results show a more significant impact on accuracy, with a </a:t>
            </a:r>
            <a:r>
              <a:rPr lang="en-US" sz="1600" dirty="0">
                <a:solidFill>
                  <a:srgbClr val="1DA0E2"/>
                </a:solidFill>
              </a:rPr>
              <a:t>compression rate of nearly 15%</a:t>
            </a:r>
            <a:r>
              <a:rPr lang="en-US" sz="1600" dirty="0">
                <a:solidFill>
                  <a:schemeClr val="bg1"/>
                </a:solidFill>
              </a:rPr>
              <a:t>. The discrepancy with previous results is due to the </a:t>
            </a:r>
            <a:r>
              <a:rPr lang="en-US" sz="1600" b="1" dirty="0">
                <a:solidFill>
                  <a:schemeClr val="bg1"/>
                </a:solidFill>
              </a:rPr>
              <a:t>much greater difficulty</a:t>
            </a:r>
            <a:r>
              <a:rPr lang="en-US" sz="1600" dirty="0">
                <a:solidFill>
                  <a:schemeClr val="bg1"/>
                </a:solidFill>
              </a:rPr>
              <a:t> of the dataset.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68B0493-3F3B-FC7F-8D6C-F5225964D9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92271" y="1546991"/>
            <a:ext cx="8207451" cy="132560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4076873-4CE3-C21C-EDE5-4E30CDDF2EA5}"/>
              </a:ext>
            </a:extLst>
          </p:cNvPr>
          <p:cNvSpPr txBox="1"/>
          <p:nvPr/>
        </p:nvSpPr>
        <p:spPr>
          <a:xfrm>
            <a:off x="448251" y="4357148"/>
            <a:ext cx="11295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1600" dirty="0">
                <a:solidFill>
                  <a:srgbClr val="1DA0E2"/>
                </a:solidFill>
              </a:rPr>
              <a:t>The patterns of the dimensions in the model are very similar to the ones observed with the CIFAR-100 test.</a:t>
            </a:r>
            <a:endParaRPr lang="en-US" sz="1600" noProof="0" dirty="0">
              <a:solidFill>
                <a:srgbClr val="1DA0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4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D0A87768-484B-C717-976F-29E8BA1E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>
            <a:extLst>
              <a:ext uri="{FF2B5EF4-FFF2-40B4-BE49-F238E27FC236}">
                <a16:creationId xmlns:a16="http://schemas.microsoft.com/office/drawing/2014/main" id="{BC317E15-A550-6B06-D481-F15D67974B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90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>
            <a:extLst>
              <a:ext uri="{FF2B5EF4-FFF2-40B4-BE49-F238E27FC236}">
                <a16:creationId xmlns:a16="http://schemas.microsoft.com/office/drawing/2014/main" id="{F64E5341-218B-D01E-D903-D1DDEC7A3B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72E57BC0-B2B8-AE89-FB9B-C461E89AE205}"/>
              </a:ext>
            </a:extLst>
          </p:cNvPr>
          <p:cNvSpPr txBox="1"/>
          <p:nvPr/>
        </p:nvSpPr>
        <p:spPr>
          <a:xfrm>
            <a:off x="762000" y="571500"/>
            <a:ext cx="11201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8FAFC"/>
                </a:solidFill>
                <a:latin typeface="Inter"/>
                <a:ea typeface="Inter"/>
                <a:sym typeface="Inter"/>
              </a:rPr>
              <a:t>Conclusions</a:t>
            </a:r>
            <a:endParaRPr lang="en-US" noProof="0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6398A661-E396-E614-882C-ECBA80BF53C3}"/>
              </a:ext>
            </a:extLst>
          </p:cNvPr>
          <p:cNvSpPr/>
          <p:nvPr/>
        </p:nvSpPr>
        <p:spPr>
          <a:xfrm>
            <a:off x="762000" y="1228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092ECA8-8560-F5D3-E76D-54FEED99F478}"/>
              </a:ext>
            </a:extLst>
          </p:cNvPr>
          <p:cNvSpPr txBox="1"/>
          <p:nvPr/>
        </p:nvSpPr>
        <p:spPr>
          <a:xfrm>
            <a:off x="746098" y="1758000"/>
            <a:ext cx="1066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bg1"/>
                </a:solidFill>
              </a:rPr>
              <a:t>We’ve developed a novel framework (Branch and Bound is not used at all in this field) to reduce </a:t>
            </a:r>
            <a:r>
              <a:rPr lang="en-US" sz="1600" b="1" dirty="0" err="1">
                <a:solidFill>
                  <a:schemeClr val="bg1"/>
                </a:solidFill>
              </a:rPr>
              <a:t>ViT</a:t>
            </a:r>
            <a:r>
              <a:rPr lang="en-US" sz="1600" b="1" dirty="0">
                <a:solidFill>
                  <a:schemeClr val="bg1"/>
                </a:solidFill>
              </a:rPr>
              <a:t> parameters.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bg1"/>
                </a:solidFill>
              </a:rPr>
              <a:t>We achieve a real compression which translates in better performance during inference, with minimal accuracy loss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chemeClr val="bg1"/>
                </a:solidFill>
              </a:rPr>
              <a:t>Results show some patterns that could help explain how the Transformer Architecture works on images.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41B8452-F68D-A5A7-C61D-D0FA5F1AF242}"/>
              </a:ext>
            </a:extLst>
          </p:cNvPr>
          <p:cNvSpPr txBox="1"/>
          <p:nvPr/>
        </p:nvSpPr>
        <p:spPr>
          <a:xfrm>
            <a:off x="2764404" y="4698287"/>
            <a:ext cx="6631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noProof="0" dirty="0">
                <a:solidFill>
                  <a:srgbClr val="1DA0E2"/>
                </a:solidFill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94228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1450</Words>
  <Application>Microsoft Office PowerPoint</Application>
  <PresentationFormat>Widescreen</PresentationFormat>
  <Paragraphs>172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5" baseType="lpstr">
      <vt:lpstr>Calibri</vt:lpstr>
      <vt:lpstr>Arial</vt:lpstr>
      <vt:lpstr>Inter</vt:lpstr>
      <vt:lpstr>JetBrains Mono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GIACOMO LOMBARDO</cp:lastModifiedBy>
  <cp:revision>26</cp:revision>
  <dcterms:modified xsi:type="dcterms:W3CDTF">2026-03-17T19:40:22Z</dcterms:modified>
</cp:coreProperties>
</file>